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76" r:id="rId3"/>
    <p:sldId id="257" r:id="rId4"/>
    <p:sldId id="258" r:id="rId5"/>
    <p:sldId id="278" r:id="rId6"/>
    <p:sldId id="259" r:id="rId7"/>
    <p:sldId id="260" r:id="rId8"/>
    <p:sldId id="261" r:id="rId9"/>
    <p:sldId id="262" r:id="rId10"/>
    <p:sldId id="277" r:id="rId11"/>
    <p:sldId id="279" r:id="rId12"/>
    <p:sldId id="280" r:id="rId13"/>
    <p:sldId id="263" r:id="rId14"/>
    <p:sldId id="264" r:id="rId15"/>
    <p:sldId id="265" r:id="rId16"/>
    <p:sldId id="266" r:id="rId17"/>
    <p:sldId id="267" r:id="rId18"/>
    <p:sldId id="281" r:id="rId19"/>
    <p:sldId id="282" r:id="rId20"/>
    <p:sldId id="283" r:id="rId21"/>
    <p:sldId id="275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4660"/>
  </p:normalViewPr>
  <p:slideViewPr>
    <p:cSldViewPr>
      <p:cViewPr varScale="1">
        <p:scale>
          <a:sx n="85" d="100"/>
          <a:sy n="85" d="100"/>
        </p:scale>
        <p:origin x="1008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81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43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15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75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67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88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76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73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55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676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5207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851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7649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770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78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31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37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0.xml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5.xml"/><Relationship Id="rId9" Type="http://schemas.openxmlformats.org/officeDocument/2006/relationships/slide" Target="slide9.xml"/><Relationship Id="rId1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slide" Target="slide2.x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851670"/>
            <a:ext cx="6480720" cy="1728192"/>
          </a:xfrm>
        </p:spPr>
        <p:txBody>
          <a:bodyPr>
            <a:noAutofit/>
          </a:bodyPr>
          <a:lstStyle/>
          <a:p>
            <a:pPr algn="l"/>
            <a:r>
              <a:rPr lang="ru-RU" sz="4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Учёт нарушений правил дорожного движения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427984" y="4948014"/>
            <a:ext cx="2304256" cy="144017"/>
          </a:xfrm>
        </p:spPr>
        <p:txBody>
          <a:bodyPr>
            <a:noAutofit/>
          </a:bodyPr>
          <a:lstStyle/>
          <a:p>
            <a:r>
              <a:rPr lang="ru-RU" sz="900" dirty="0">
                <a:solidFill>
                  <a:schemeClr val="bg1">
                    <a:lumMod val="50000"/>
                  </a:schemeClr>
                </a:solidFill>
              </a:rPr>
              <a:t>Выполнил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</a:rPr>
              <a:t>Буцаев Владислав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61095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9E5BB-6CD7-46C4-829D-D8C18AFC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47501" cy="987574"/>
          </a:xfrm>
        </p:spPr>
        <p:txBody>
          <a:bodyPr>
            <a:normAutofit/>
          </a:bodyPr>
          <a:lstStyle/>
          <a:p>
            <a:r>
              <a:rPr lang="ru-RU" sz="4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Меню</a:t>
            </a:r>
            <a:r>
              <a:rPr lang="en-US" sz="4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4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1F3396-77F6-4008-8874-1369AD405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9" y="699542"/>
            <a:ext cx="6631974" cy="4443958"/>
          </a:xfrm>
        </p:spPr>
        <p:txBody>
          <a:bodyPr>
            <a:normAutofit fontScale="775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ru-RU" sz="2400" b="1" dirty="0">
                <a:ln/>
                <a:solidFill>
                  <a:schemeClr val="accent3"/>
                </a:solidFill>
                <a:hlinkClick r:id="rId2" action="ppaction://hlinksldjump"/>
              </a:rPr>
              <a:t>Описание предметной области</a:t>
            </a:r>
            <a:endParaRPr lang="en-US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3" action="ppaction://hlinksldjump"/>
              </a:rPr>
              <a:t>Описание входной информации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4" action="ppaction://hlinksldjump"/>
              </a:rPr>
              <a:t>Описание выходной информации</a:t>
            </a:r>
            <a:endParaRPr lang="en-US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5" action="ppaction://hlinksldjump"/>
              </a:rPr>
              <a:t>Структурная модель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6" action="ppaction://hlinksldjump"/>
              </a:rPr>
              <a:t>Контекстная диаграмма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7" action="ppaction://hlinksldjump"/>
              </a:rPr>
              <a:t>Диаграмма первого уровня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8" action="ppaction://hlinksldjump"/>
              </a:rPr>
              <a:t>Объектная модель программы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9" action="ppaction://hlinksldjump"/>
              </a:rPr>
              <a:t>Диаграмма потоков данных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10" action="ppaction://hlinksldjump"/>
              </a:rPr>
              <a:t>Диаграмма вариантов использования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11" action="ppaction://hlinksldjump"/>
              </a:rPr>
              <a:t>Диаграмма «Сущность- связь» 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12" action="ppaction://hlinksldjump"/>
              </a:rPr>
              <a:t>Логическая модель базы данных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13" action="ppaction://hlinksldjump"/>
              </a:rPr>
              <a:t>База данных</a:t>
            </a:r>
            <a:endParaRPr lang="ru-RU" sz="2400" b="1" dirty="0">
              <a:ln/>
              <a:solidFill>
                <a:schemeClr val="accent3"/>
              </a:solidFill>
            </a:endParaRPr>
          </a:p>
          <a:p>
            <a:r>
              <a:rPr lang="ru-RU" sz="2400" b="1" dirty="0">
                <a:ln/>
                <a:solidFill>
                  <a:schemeClr val="accent3"/>
                </a:solidFill>
                <a:hlinkClick r:id="rId14" action="ppaction://hlinksldjump"/>
              </a:rPr>
              <a:t>Интерфейс программы</a:t>
            </a:r>
            <a:endParaRPr lang="en-US" sz="2400" b="1" dirty="0">
              <a:ln/>
              <a:solidFill>
                <a:schemeClr val="accent3"/>
              </a:solidFill>
            </a:endParaRPr>
          </a:p>
          <a:p>
            <a:endParaRPr lang="ru-BY" b="1" dirty="0">
              <a:ln/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36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9" y="1059582"/>
            <a:ext cx="6631974" cy="4083918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en-US" b="1" dirty="0">
                <a:ln/>
                <a:solidFill>
                  <a:schemeClr val="accent3"/>
                </a:solidFill>
              </a:rPr>
              <a:t>	</a:t>
            </a:r>
            <a:r>
              <a:rPr lang="ru-RU" b="1" dirty="0">
                <a:ln/>
                <a:solidFill>
                  <a:schemeClr val="accent3"/>
                </a:solidFill>
              </a:rPr>
              <a:t>Программное средство «Учет нарушений правил дорожного движения» может быть использовано в государственных организациях так и обычным пользователям. Данное программное  средство автоматизирует процесс ведения учета нарушителей ПДД. Сведения о нарушителе попадают в базу данных следующим путем: сотрудники дорожно-транспортной службы составляют протокол, и передают его специалисту, который при помощи данного программного продукта внесут сведения в базу данных. </a:t>
            </a:r>
            <a:r>
              <a:rPr lang="en-US" b="1" dirty="0">
                <a:ln/>
                <a:solidFill>
                  <a:schemeClr val="accent3"/>
                </a:solidFill>
              </a:rPr>
              <a:t>	</a:t>
            </a:r>
            <a:r>
              <a:rPr lang="ru-RU" b="1" dirty="0">
                <a:ln/>
                <a:solidFill>
                  <a:schemeClr val="accent3"/>
                </a:solidFill>
              </a:rPr>
              <a:t>Проанализировав рынок программного обеспечения в данной категории можно сделать вывод, что для выполнения поставленной задачи по автоматизации учета нарушений правил дорожного движения используются следующие программы: </a:t>
            </a:r>
            <a:r>
              <a:rPr lang="en-US" b="1" dirty="0">
                <a:ln/>
                <a:solidFill>
                  <a:schemeClr val="accent3"/>
                </a:solidFill>
              </a:rPr>
              <a:t>MS Word</a:t>
            </a:r>
            <a:r>
              <a:rPr lang="ru-RU" b="1" dirty="0">
                <a:ln/>
                <a:solidFill>
                  <a:schemeClr val="accent3"/>
                </a:solidFill>
              </a:rPr>
              <a:t>, </a:t>
            </a:r>
            <a:r>
              <a:rPr lang="en-US" b="1" dirty="0">
                <a:ln/>
                <a:solidFill>
                  <a:schemeClr val="accent3"/>
                </a:solidFill>
              </a:rPr>
              <a:t>MS Access</a:t>
            </a:r>
            <a:r>
              <a:rPr lang="ru-RU" b="1" dirty="0">
                <a:ln/>
                <a:solidFill>
                  <a:schemeClr val="accent3"/>
                </a:solidFill>
              </a:rPr>
              <a:t>, </a:t>
            </a:r>
            <a:r>
              <a:rPr lang="en-US" b="1" dirty="0">
                <a:ln/>
                <a:solidFill>
                  <a:schemeClr val="accent3"/>
                </a:solidFill>
              </a:rPr>
              <a:t>Visual Studio</a:t>
            </a:r>
            <a:r>
              <a:rPr lang="ru-RU" b="1" dirty="0">
                <a:ln/>
                <a:solidFill>
                  <a:schemeClr val="accent3"/>
                </a:solidFill>
              </a:rPr>
              <a:t>.</a:t>
            </a:r>
            <a:r>
              <a:rPr lang="en-US" b="1" dirty="0">
                <a:ln/>
                <a:solidFill>
                  <a:schemeClr val="accent3"/>
                </a:solidFill>
              </a:rPr>
              <a:t>	</a:t>
            </a:r>
            <a:r>
              <a:rPr lang="ru-RU" b="1" dirty="0">
                <a:ln/>
                <a:solidFill>
                  <a:schemeClr val="accent3"/>
                </a:solidFill>
              </a:rPr>
              <a:t>Неудобность этих программ заключается в том, что они требуют предварительной подготовки. В случае с </a:t>
            </a:r>
            <a:r>
              <a:rPr lang="en-US" b="1" dirty="0">
                <a:ln/>
                <a:solidFill>
                  <a:schemeClr val="accent3"/>
                </a:solidFill>
              </a:rPr>
              <a:t>MS Word</a:t>
            </a:r>
            <a:r>
              <a:rPr lang="ru-RU" b="1" dirty="0">
                <a:ln/>
                <a:solidFill>
                  <a:schemeClr val="accent3"/>
                </a:solidFill>
              </a:rPr>
              <a:t> и </a:t>
            </a:r>
            <a:r>
              <a:rPr lang="en-US" b="1" dirty="0">
                <a:ln/>
                <a:solidFill>
                  <a:schemeClr val="accent3"/>
                </a:solidFill>
              </a:rPr>
              <a:t>MS Access</a:t>
            </a:r>
            <a:r>
              <a:rPr lang="ru-RU" b="1" dirty="0">
                <a:ln/>
                <a:solidFill>
                  <a:schemeClr val="accent3"/>
                </a:solidFill>
              </a:rPr>
              <a:t> пользователю придётся вручную вести огромное количество расчётов, что также является недопустимым в процессе автоматизации. </a:t>
            </a:r>
            <a:r>
              <a:rPr lang="en-US" b="1" dirty="0">
                <a:ln/>
                <a:solidFill>
                  <a:schemeClr val="accent3"/>
                </a:solidFill>
              </a:rPr>
              <a:t>				</a:t>
            </a:r>
            <a:r>
              <a:rPr lang="ru-RU" b="1" dirty="0">
                <a:ln/>
                <a:solidFill>
                  <a:schemeClr val="accent3"/>
                </a:solidFill>
              </a:rPr>
              <a:t>Рассмотрев аналоги разрабатываемого продукта, можно сделать вывод что разрабатываемый программный продукт позволит в полной степени автоматизировать процесс учёта нарушений ПДД. </a:t>
            </a:r>
            <a:endParaRPr lang="ru-BY" b="1" dirty="0">
              <a:ln/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ru-RU" b="1" dirty="0">
              <a:ln/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ru-BY" b="1" dirty="0">
              <a:ln/>
              <a:solidFill>
                <a:schemeClr val="accent3"/>
              </a:solidFill>
            </a:endParaRPr>
          </a:p>
        </p:txBody>
      </p:sp>
      <p:sp>
        <p:nvSpPr>
          <p:cNvPr id="4" name="Управляющая кнопка: назад 3">
            <a:hlinkClick r:id="" action="ppaction://hlinkshowjump?jump=previousslide" highlightClick="1"/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домой 4">
            <a:hlinkClick r:id="rId2" action="ppaction://hlinksldjump" highlightClick="1"/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далее 5">
            <a:hlinkClick r:id="" action="ppaction://hlinkshowjump?jump=nextslide" highlightClick="1"/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E73BB57-D81A-4AC5-B0A7-8BDF02276A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47501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Описание предметной области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291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D8EF61A4-5115-4CDB-ADFE-037B03A926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47501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Описание входной информации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Объект 1">
            <a:extLst>
              <a:ext uri="{FF2B5EF4-FFF2-40B4-BE49-F238E27FC236}">
                <a16:creationId xmlns:a16="http://schemas.microsoft.com/office/drawing/2014/main" id="{915C0C23-6C35-48B3-BCB9-0F6DF8A15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9" y="1059582"/>
            <a:ext cx="6631974" cy="4083918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Для корректной работы программе будет необходима следующая информация:</a:t>
            </a:r>
            <a:endParaRPr lang="ru-BY" b="1" dirty="0">
              <a:ln/>
              <a:solidFill>
                <a:schemeClr val="accent3"/>
              </a:solidFill>
            </a:endParaRPr>
          </a:p>
          <a:p>
            <a:pPr lvl="0"/>
            <a:r>
              <a:rPr lang="en-US" b="1" dirty="0" err="1">
                <a:ln/>
                <a:solidFill>
                  <a:schemeClr val="accent3"/>
                </a:solidFill>
              </a:rPr>
              <a:t>фамили</a:t>
            </a:r>
            <a:r>
              <a:rPr lang="ru-RU" b="1" dirty="0">
                <a:ln/>
                <a:solidFill>
                  <a:schemeClr val="accent3"/>
                </a:solidFill>
              </a:rPr>
              <a:t>я</a:t>
            </a:r>
            <a:r>
              <a:rPr lang="en-US" b="1" dirty="0">
                <a:ln/>
                <a:solidFill>
                  <a:schemeClr val="accent3"/>
                </a:solidFill>
              </a:rPr>
              <a:t>, </a:t>
            </a:r>
            <a:r>
              <a:rPr lang="en-US" b="1" dirty="0" err="1">
                <a:ln/>
                <a:solidFill>
                  <a:schemeClr val="accent3"/>
                </a:solidFill>
              </a:rPr>
              <a:t>имя</a:t>
            </a:r>
            <a:r>
              <a:rPr lang="en-US" b="1" dirty="0">
                <a:ln/>
                <a:solidFill>
                  <a:schemeClr val="accent3"/>
                </a:solidFill>
              </a:rPr>
              <a:t>, </a:t>
            </a:r>
            <a:r>
              <a:rPr lang="en-US" b="1" dirty="0" err="1">
                <a:ln/>
                <a:solidFill>
                  <a:schemeClr val="accent3"/>
                </a:solidFill>
              </a:rPr>
              <a:t>отчество</a:t>
            </a:r>
            <a:r>
              <a:rPr lang="en-US" b="1" dirty="0">
                <a:ln/>
                <a:solidFill>
                  <a:schemeClr val="accent3"/>
                </a:solidFill>
              </a:rPr>
              <a:t> </a:t>
            </a:r>
            <a:r>
              <a:rPr lang="ru-RU" b="1" dirty="0">
                <a:ln/>
                <a:solidFill>
                  <a:schemeClr val="accent3"/>
                </a:solidFill>
              </a:rPr>
              <a:t>нарушителя</a:t>
            </a:r>
            <a:r>
              <a:rPr lang="en-US" b="1" dirty="0">
                <a:ln/>
                <a:solidFill>
                  <a:schemeClr val="accent3"/>
                </a:solidFill>
              </a:rPr>
              <a:t>;</a:t>
            </a:r>
            <a:endParaRPr lang="ru-BY" b="1" dirty="0">
              <a:ln/>
              <a:solidFill>
                <a:schemeClr val="accent3"/>
              </a:solidFill>
            </a:endParaRPr>
          </a:p>
          <a:p>
            <a:pPr lvl="0"/>
            <a:r>
              <a:rPr lang="ru-RU" b="1" dirty="0">
                <a:ln/>
                <a:solidFill>
                  <a:schemeClr val="accent3"/>
                </a:solidFill>
              </a:rPr>
              <a:t>серия и номер свидетельства о регистрации транспортного средства; </a:t>
            </a:r>
            <a:endParaRPr lang="ru-BY" b="1" dirty="0">
              <a:ln/>
              <a:solidFill>
                <a:schemeClr val="accent3"/>
              </a:solidFill>
            </a:endParaRPr>
          </a:p>
          <a:p>
            <a:pPr lvl="0"/>
            <a:r>
              <a:rPr lang="en-US" b="1" dirty="0" err="1">
                <a:ln/>
                <a:solidFill>
                  <a:schemeClr val="accent3"/>
                </a:solidFill>
              </a:rPr>
              <a:t>дата</a:t>
            </a:r>
            <a:r>
              <a:rPr lang="en-US" b="1" dirty="0">
                <a:ln/>
                <a:solidFill>
                  <a:schemeClr val="accent3"/>
                </a:solidFill>
              </a:rPr>
              <a:t> c</a:t>
            </a:r>
            <a:r>
              <a:rPr lang="ru-RU" b="1" dirty="0" err="1">
                <a:ln/>
                <a:solidFill>
                  <a:schemeClr val="accent3"/>
                </a:solidFill>
              </a:rPr>
              <a:t>овершения</a:t>
            </a:r>
            <a:r>
              <a:rPr lang="ru-RU" b="1" dirty="0">
                <a:ln/>
                <a:solidFill>
                  <a:schemeClr val="accent3"/>
                </a:solidFill>
              </a:rPr>
              <a:t> нарушения</a:t>
            </a:r>
            <a:r>
              <a:rPr lang="en-US" b="1" dirty="0">
                <a:ln/>
                <a:solidFill>
                  <a:schemeClr val="accent3"/>
                </a:solidFill>
              </a:rPr>
              <a:t>; </a:t>
            </a:r>
            <a:endParaRPr lang="ru-BY" b="1" dirty="0">
              <a:ln/>
              <a:solidFill>
                <a:schemeClr val="accent3"/>
              </a:solidFill>
            </a:endParaRPr>
          </a:p>
          <a:p>
            <a:pPr lvl="0"/>
            <a:r>
              <a:rPr lang="ru-RU" b="1" dirty="0">
                <a:ln/>
                <a:solidFill>
                  <a:schemeClr val="accent3"/>
                </a:solidFill>
              </a:rPr>
              <a:t>размер штрафа</a:t>
            </a:r>
            <a:r>
              <a:rPr lang="en-US" b="1" dirty="0">
                <a:ln/>
                <a:solidFill>
                  <a:schemeClr val="accent3"/>
                </a:solidFill>
              </a:rPr>
              <a:t>; </a:t>
            </a:r>
            <a:endParaRPr lang="ru-RU" b="1" dirty="0">
              <a:ln/>
              <a:solidFill>
                <a:schemeClr val="accent3"/>
              </a:solidFill>
            </a:endParaRPr>
          </a:p>
          <a:p>
            <a:pPr lvl="0"/>
            <a:r>
              <a:rPr lang="ru-RU" b="1" dirty="0">
                <a:ln/>
                <a:solidFill>
                  <a:schemeClr val="accent3"/>
                </a:solidFill>
              </a:rPr>
              <a:t>Серия и номер паспорта нарушителя</a:t>
            </a:r>
          </a:p>
          <a:p>
            <a:pPr lvl="0"/>
            <a:r>
              <a:rPr lang="ru-RU" b="1" dirty="0">
                <a:ln/>
                <a:solidFill>
                  <a:schemeClr val="accent3"/>
                </a:solidFill>
              </a:rPr>
              <a:t>Место жительства</a:t>
            </a:r>
            <a:endParaRPr lang="ru-BY" b="1" dirty="0">
              <a:ln/>
              <a:solidFill>
                <a:schemeClr val="accent3"/>
              </a:solidFill>
            </a:endParaRPr>
          </a:p>
        </p:txBody>
      </p:sp>
      <p:sp>
        <p:nvSpPr>
          <p:cNvPr id="15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7BF4AAB-53AA-44CA-B589-2DEE3647C009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омой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6055B46-8CE3-4816-8636-74FD5D23E2A0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4B2BA5B-18CE-4C5C-908A-5C583F608D43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07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9CB7F3-5DFA-478F-9B9B-052415CB43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Описание выходной информации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880B4A7C-B06C-45FD-B8C1-4DC95EAF5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49" y="843558"/>
            <a:ext cx="6631974" cy="4083918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Программа будет выдавать следующую информацию:</a:t>
            </a:r>
            <a:endParaRPr lang="ru-BY" b="1" dirty="0">
              <a:ln/>
              <a:solidFill>
                <a:schemeClr val="accent3"/>
              </a:solidFill>
            </a:endParaRPr>
          </a:p>
          <a:p>
            <a:r>
              <a:rPr lang="ru-RU" b="1" dirty="0">
                <a:ln/>
                <a:solidFill>
                  <a:schemeClr val="accent3"/>
                </a:solidFill>
              </a:rPr>
              <a:t>            Выходной информацией будут являться разнообразные отчеты, сформированные пользователем.</a:t>
            </a:r>
            <a:endParaRPr lang="ru-BY" b="1" dirty="0">
              <a:ln/>
              <a:solidFill>
                <a:schemeClr val="accent3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7F28EC-29A0-49B9-9EBE-05C57C4D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818057"/>
            <a:ext cx="4536504" cy="2659742"/>
          </a:xfrm>
          <a:prstGeom prst="rect">
            <a:avLst/>
          </a:prstGeom>
        </p:spPr>
      </p:pic>
      <p:sp>
        <p:nvSpPr>
          <p:cNvPr id="9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D6812F1-14D7-455B-AE44-1F3D07DD1543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F842E53-CA28-440C-AD2A-FE434C79A851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C467AC6-43B0-4193-9AC0-E11A406162D9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91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7D8389C2-CDE8-4FB8-BCEF-5C4F7F85BFF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47501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Структурная схема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5CC919D-0EE1-4E80-A1DB-D7C263C28C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09799" y="680039"/>
            <a:ext cx="6124878" cy="4176464"/>
          </a:xfrm>
          <a:prstGeom prst="rect">
            <a:avLst/>
          </a:prstGeom>
        </p:spPr>
      </p:pic>
      <p:sp>
        <p:nvSpPr>
          <p:cNvPr id="14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B777038-832E-4EAD-B6F9-44C2446FD41F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129E0B5-FF74-4097-AA31-1674A9543CE4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DE27725-EE49-48F9-AE74-A8A0F0CF94C4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66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012DBDA-7DB5-489C-8372-0C4AF46449C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Контекстная диаграмма деятельности (А-0)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136FB3-5DE6-4D12-AA86-34CECE8AD4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0071" y="1131590"/>
            <a:ext cx="6120130" cy="3290570"/>
          </a:xfrm>
          <a:prstGeom prst="rect">
            <a:avLst/>
          </a:prstGeom>
        </p:spPr>
      </p:pic>
      <p:sp>
        <p:nvSpPr>
          <p:cNvPr id="14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8FFE1FC-D783-4B10-B0C8-5B0629A38611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881ACF1-69B1-4A61-9D2A-37499E719E8D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55B11B3-1C66-4D9E-A1E5-AB65830891A6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95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A49C9A2F-9FD5-405B-8527-22DA5B9B75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Декомпозиция первого уровня(А-0)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788FD76-E60E-4E93-8BE8-38B6A27B4D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9552" y="890270"/>
            <a:ext cx="6120130" cy="3362960"/>
          </a:xfrm>
          <a:prstGeom prst="rect">
            <a:avLst/>
          </a:prstGeom>
        </p:spPr>
      </p:pic>
      <p:sp>
        <p:nvSpPr>
          <p:cNvPr id="14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A2CD898-A433-4B0A-99E5-D40DE53D4F42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59B9499-A9C2-442D-A31C-E169EE10EFC5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1F10C81-90FD-400F-B8A8-EC59BE13FF1C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14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07A6E4F-712B-47C1-9FCE-A3A9B9851D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Диаграмма потоков данных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67685B0-3881-4A47-BADD-153DD1E70F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0071" y="987574"/>
            <a:ext cx="6120130" cy="3744416"/>
          </a:xfrm>
          <a:prstGeom prst="rect">
            <a:avLst/>
          </a:prstGeom>
        </p:spPr>
      </p:pic>
      <p:sp>
        <p:nvSpPr>
          <p:cNvPr id="15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6020003-5BC2-4A6C-8806-50893FEDAC02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4879B9F-2C30-4BDB-8693-F0B8ADE3B767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0E552D9-DA77-4BFF-93A6-088B473A0E27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694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0FFB0DD-2A93-4ADD-9361-C985CE4D12D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Диаграмма «Сущность- связь» 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9AFE2F-C98B-435A-B7CE-0A1A58379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771549"/>
            <a:ext cx="1199736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BY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CB61AF8-F255-4E5B-BA20-AE35CC3846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38131"/>
              </p:ext>
            </p:extLst>
          </p:nvPr>
        </p:nvGraphicFramePr>
        <p:xfrm>
          <a:off x="611560" y="771550"/>
          <a:ext cx="6048672" cy="4155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Visio" r:id="rId3" imgW="4610050" imgH="6543730" progId="Visio.Drawing.15">
                  <p:embed/>
                </p:oleObj>
              </mc:Choice>
              <mc:Fallback>
                <p:oleObj name="Visio" r:id="rId3" imgW="4610050" imgH="654373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771550"/>
                        <a:ext cx="6048672" cy="41559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017ACB5-FD6D-4A06-BC65-1B71CFB9C4EF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домой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530A13B-3F65-400F-9A4E-4C13F9A82FF4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0C0BBB8-A7AC-4218-BEFB-5B6682C2B073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86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9E02753-EA3A-464B-A21F-537D62C6F4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Объектную модель программы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2050" name="Рисунок 1">
            <a:extLst>
              <a:ext uri="{FF2B5EF4-FFF2-40B4-BE49-F238E27FC236}">
                <a16:creationId xmlns:a16="http://schemas.microsoft.com/office/drawing/2014/main" id="{078C63BB-0B85-43F0-997F-CCB4847D0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25512"/>
            <a:ext cx="630872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EEFF026-9CDB-462F-876B-D6A3D052ECB1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A8F3DF5-581A-47E8-81B1-2B45B8A87F24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D3747B9-DF8F-4AEE-B2E2-FC8D3114AB18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3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9646C18-74D1-40D5-9E33-8BF108C213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Диаграмма вариантов использования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5B278A-BE38-4672-8715-C6156D42BBE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12" y="984253"/>
            <a:ext cx="5832648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F3D1B99-E69A-4AB3-9A60-A168C9968A24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E48C246-58AF-4031-A692-0D40B8A666D5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9529DEE-4710-4B96-B6B7-ADE4FB9AEC65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12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278C946-6851-4ABB-BAE1-7E8176078D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Логическая модель базы данных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2E0AAEC-AAA6-4226-BBE5-C92A127812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55576" y="1131590"/>
            <a:ext cx="6120130" cy="2346960"/>
          </a:xfrm>
          <a:prstGeom prst="rect">
            <a:avLst/>
          </a:prstGeom>
        </p:spPr>
      </p:pic>
      <p:sp>
        <p:nvSpPr>
          <p:cNvPr id="14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1C5B481-179B-4DA6-AE7D-A3DBCCD92478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32BF9E7-AAFE-4ADB-8672-0AFAD4C1D777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2194E47-AEA5-4FD3-91EE-9BA897F4748D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25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929150-76D8-4150-B519-183BFB193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11902"/>
            <a:ext cx="6768752" cy="1685925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F0D31EE-6639-4D80-9A67-E97B11BDBEB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987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Схема базы данных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8A90BCE-FDE1-4757-A8B2-71902E9F1962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F56E95C-A8B4-4F14-BDD7-DF0CAF097F08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C4BF826-1FCD-49FC-AAFD-6B21B9478E07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20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13862FD-0253-4C77-93EA-BA26382FD8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612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Интерфейс программы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ECED53D-40E8-4979-BE38-094FA28EA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9622"/>
            <a:ext cx="6660232" cy="2530181"/>
          </a:xfrm>
          <a:prstGeom prst="rect">
            <a:avLst/>
          </a:prstGeom>
        </p:spPr>
      </p:pic>
      <p:sp>
        <p:nvSpPr>
          <p:cNvPr id="13" name="Объект 1">
            <a:extLst>
              <a:ext uri="{FF2B5EF4-FFF2-40B4-BE49-F238E27FC236}">
                <a16:creationId xmlns:a16="http://schemas.microsoft.com/office/drawing/2014/main" id="{D0FEE1F5-2C17-49EE-8E33-58BAE206B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647511"/>
            <a:ext cx="3672408" cy="360041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Окно приветствия</a:t>
            </a:r>
            <a:r>
              <a:rPr lang="en-US" b="1" dirty="0">
                <a:ln/>
                <a:solidFill>
                  <a:schemeClr val="accent3"/>
                </a:solidFill>
              </a:rPr>
              <a:t> </a:t>
            </a:r>
            <a:r>
              <a:rPr lang="ru-RU" b="1" dirty="0">
                <a:ln/>
                <a:solidFill>
                  <a:schemeClr val="accent3"/>
                </a:solidFill>
              </a:rPr>
              <a:t>представлено далее</a:t>
            </a:r>
            <a:r>
              <a:rPr lang="en-US" b="1" dirty="0">
                <a:ln/>
                <a:solidFill>
                  <a:schemeClr val="accent3"/>
                </a:solidFill>
              </a:rPr>
              <a:t>:</a:t>
            </a:r>
            <a:r>
              <a:rPr lang="ru-RU" b="1" dirty="0">
                <a:ln/>
                <a:solidFill>
                  <a:schemeClr val="accent3"/>
                </a:solidFill>
              </a:rPr>
              <a:t> </a:t>
            </a:r>
            <a:endParaRPr lang="ru-BY" b="1" dirty="0">
              <a:ln/>
              <a:solidFill>
                <a:schemeClr val="accent3"/>
              </a:solidFill>
            </a:endParaRPr>
          </a:p>
        </p:txBody>
      </p:sp>
      <p:sp>
        <p:nvSpPr>
          <p:cNvPr id="14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8ED16FD-7141-4077-B3AB-6B3F75263A6D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853C99C-D5E8-4BB9-B4DB-A05AEF79BC92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80BCEE6-8CD9-4A97-9D4C-C7819720EE02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9BE17C-0BFA-4E36-ABBA-B766802EE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99542"/>
            <a:ext cx="6103766" cy="2952328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AB676027-F652-4EE4-93C1-B80858B8F2B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612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Главная форма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Объект 1">
            <a:extLst>
              <a:ext uri="{FF2B5EF4-FFF2-40B4-BE49-F238E27FC236}">
                <a16:creationId xmlns:a16="http://schemas.microsoft.com/office/drawing/2014/main" id="{9DD5BC13-F8E5-48A8-9E42-06A074861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53" y="3738934"/>
            <a:ext cx="6103766" cy="1404566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С главного меню пользователь сможет перейти на следующие формы</a:t>
            </a:r>
            <a:r>
              <a:rPr lang="en-US" b="1" dirty="0">
                <a:ln/>
                <a:solidFill>
                  <a:schemeClr val="accent3"/>
                </a:solidFill>
              </a:rPr>
              <a:t>: </a:t>
            </a:r>
            <a:r>
              <a:rPr lang="ru-RU" b="1" dirty="0">
                <a:ln/>
                <a:solidFill>
                  <a:schemeClr val="accent3"/>
                </a:solidFill>
              </a:rPr>
              <a:t>справочники нарушителей и нарушений, а так же на рабочую таблицу нарушителей. Так же можно открыть справочник либо связаться с разработчикам.</a:t>
            </a:r>
            <a:endParaRPr lang="en-US" b="1" dirty="0">
              <a:ln/>
              <a:solidFill>
                <a:schemeClr val="accent3"/>
              </a:solidFill>
            </a:endParaRPr>
          </a:p>
        </p:txBody>
      </p:sp>
      <p:sp>
        <p:nvSpPr>
          <p:cNvPr id="15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6BEB980-F703-467D-9AD5-81D2428D989C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599F82A-F1EB-49E1-8D26-AD4312662CBE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86DA54D-FE14-434A-AA8E-71305D7C09FC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22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5C16DB4-78DB-42B9-A7D3-CB515E1C7B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612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Справочник нарушителей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B068680-9160-48F2-8542-9D2EA97A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07291"/>
            <a:ext cx="5539856" cy="2790935"/>
          </a:xfrm>
          <a:prstGeom prst="rect">
            <a:avLst/>
          </a:prstGeom>
        </p:spPr>
      </p:pic>
      <p:sp>
        <p:nvSpPr>
          <p:cNvPr id="14" name="Объект 1">
            <a:extLst>
              <a:ext uri="{FF2B5EF4-FFF2-40B4-BE49-F238E27FC236}">
                <a16:creationId xmlns:a16="http://schemas.microsoft.com/office/drawing/2014/main" id="{BD8656DA-71DE-4F07-80D2-3A74DC36F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53" y="3507854"/>
            <a:ext cx="6103766" cy="1635646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С главного меню пользователь сможет перейти на следующие формы</a:t>
            </a:r>
            <a:r>
              <a:rPr lang="en-US" b="1" dirty="0">
                <a:ln/>
                <a:solidFill>
                  <a:schemeClr val="accent3"/>
                </a:solidFill>
              </a:rPr>
              <a:t>: </a:t>
            </a:r>
            <a:r>
              <a:rPr lang="ru-RU" b="1" dirty="0">
                <a:ln/>
                <a:solidFill>
                  <a:schemeClr val="accent3"/>
                </a:solidFill>
              </a:rPr>
              <a:t>главную форму и форму отчётов. Так же можно открыть справочник либо связаться с разработчикам. </a:t>
            </a:r>
          </a:p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Можно выполнить различные действия с таблицей</a:t>
            </a:r>
            <a:r>
              <a:rPr lang="en-US" b="1" dirty="0">
                <a:ln/>
                <a:solidFill>
                  <a:schemeClr val="accent3"/>
                </a:solidFill>
              </a:rPr>
              <a:t>:</a:t>
            </a:r>
            <a:r>
              <a:rPr lang="ru-RU" b="1" dirty="0">
                <a:ln/>
                <a:solidFill>
                  <a:schemeClr val="accent3"/>
                </a:solidFill>
              </a:rPr>
              <a:t> Добавить, удалить, изменить, поиск, фильтрация.</a:t>
            </a:r>
            <a:r>
              <a:rPr lang="en-US" b="1" dirty="0">
                <a:ln/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15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19E0CB1-E726-495F-AFFB-1FAFB23A423A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542E2F1-87BA-4A50-B3D5-CF6C4A34FE48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8E4DC55-D6FC-45BC-84AB-E1EFFB260A4B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18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629A01D-E81F-4BEE-8B47-9E306FA5725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612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Справочник нарушений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68B5B1-D20B-4FCB-9FEE-4F5C9674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2" y="612478"/>
            <a:ext cx="6382507" cy="2720604"/>
          </a:xfrm>
          <a:prstGeom prst="rect">
            <a:avLst/>
          </a:prstGeom>
        </p:spPr>
      </p:pic>
      <p:sp>
        <p:nvSpPr>
          <p:cNvPr id="6" name="Объект 1">
            <a:extLst>
              <a:ext uri="{FF2B5EF4-FFF2-40B4-BE49-F238E27FC236}">
                <a16:creationId xmlns:a16="http://schemas.microsoft.com/office/drawing/2014/main" id="{B22D65EA-6A78-480A-AE06-20003788E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53" y="3507854"/>
            <a:ext cx="6103766" cy="1635646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С меню справочник нарушений пользователь сможет перейти на следующие формы</a:t>
            </a:r>
            <a:r>
              <a:rPr lang="en-US" b="1" dirty="0">
                <a:ln/>
                <a:solidFill>
                  <a:schemeClr val="accent3"/>
                </a:solidFill>
              </a:rPr>
              <a:t>: </a:t>
            </a:r>
            <a:r>
              <a:rPr lang="ru-RU" b="1" dirty="0">
                <a:ln/>
                <a:solidFill>
                  <a:schemeClr val="accent3"/>
                </a:solidFill>
              </a:rPr>
              <a:t>главную форму и форму отчётов. Так же можно открыть справочник либо связаться с разработчикам. </a:t>
            </a:r>
          </a:p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Можно выполнить различные действия с таблицей</a:t>
            </a:r>
            <a:r>
              <a:rPr lang="en-US" b="1" dirty="0">
                <a:ln/>
                <a:solidFill>
                  <a:schemeClr val="accent3"/>
                </a:solidFill>
              </a:rPr>
              <a:t>:</a:t>
            </a:r>
            <a:r>
              <a:rPr lang="ru-RU" b="1" dirty="0">
                <a:ln/>
                <a:solidFill>
                  <a:schemeClr val="accent3"/>
                </a:solidFill>
              </a:rPr>
              <a:t> Добавить, удалить, изменить, поиск, фильтрация.</a:t>
            </a:r>
            <a:r>
              <a:rPr lang="en-US" b="1" dirty="0">
                <a:ln/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7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4FF453A-29DB-4D0F-B654-16924A0F3376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28F7CC3-7A1D-4712-8879-56EC5F5238C5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A8C0C48-AF2E-4E36-98C7-9F85C0022C00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12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45F08B-8BAB-4C02-A6B4-01319DB5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12478"/>
            <a:ext cx="6103766" cy="237794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6570FBB-047C-4256-BE81-B1780F891A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612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Совершенные нарушения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96F8B97-41D1-4B7E-93AE-672A71B4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3147814"/>
            <a:ext cx="6103766" cy="1635646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С меню совершенных нарушений пользователь сможет перейти на следующие формы</a:t>
            </a:r>
            <a:r>
              <a:rPr lang="en-US" b="1" dirty="0">
                <a:ln/>
                <a:solidFill>
                  <a:schemeClr val="accent3"/>
                </a:solidFill>
              </a:rPr>
              <a:t>: </a:t>
            </a:r>
            <a:r>
              <a:rPr lang="ru-RU" b="1" dirty="0">
                <a:ln/>
                <a:solidFill>
                  <a:schemeClr val="accent3"/>
                </a:solidFill>
              </a:rPr>
              <a:t>главную форму и форму отчётов. Так же можно открыть справочник либо связаться с разработчикам. </a:t>
            </a:r>
          </a:p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Можно выполнить различные действия с таблицей</a:t>
            </a:r>
            <a:r>
              <a:rPr lang="en-US" b="1" dirty="0">
                <a:ln/>
                <a:solidFill>
                  <a:schemeClr val="accent3"/>
                </a:solidFill>
              </a:rPr>
              <a:t>:</a:t>
            </a:r>
            <a:r>
              <a:rPr lang="ru-RU" b="1" dirty="0">
                <a:ln/>
                <a:solidFill>
                  <a:schemeClr val="accent3"/>
                </a:solidFill>
              </a:rPr>
              <a:t> Добавить, удалить, изменить, поиск, фильтрация.</a:t>
            </a:r>
            <a:r>
              <a:rPr lang="en-US" b="1" dirty="0">
                <a:ln/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7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CB1526C-3320-4CD5-9368-C250138ECEB4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EF166F5-FB19-40C7-9608-E1B5FAB41DE1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566563F-33CA-4058-A41F-63D20ABF1F5B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37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C59663C-A0F2-45EA-8B88-92BF26F2C5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020272" cy="612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Форма отчётов</a:t>
            </a:r>
            <a:r>
              <a:rPr lang="en-US" sz="3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:</a:t>
            </a:r>
            <a:endParaRPr lang="ru-BY" sz="3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C8154C-4E18-4AB7-8010-DD5134147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12478"/>
            <a:ext cx="5976664" cy="2751360"/>
          </a:xfrm>
          <a:prstGeom prst="rect">
            <a:avLst/>
          </a:prstGeom>
        </p:spPr>
      </p:pic>
      <p:sp>
        <p:nvSpPr>
          <p:cNvPr id="6" name="Объект 1">
            <a:extLst>
              <a:ext uri="{FF2B5EF4-FFF2-40B4-BE49-F238E27FC236}">
                <a16:creationId xmlns:a16="http://schemas.microsoft.com/office/drawing/2014/main" id="{592676C9-3987-4E6E-BA33-12ACF2244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3435846"/>
            <a:ext cx="6103766" cy="1635646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>
              <a:buNone/>
            </a:pPr>
            <a:r>
              <a:rPr lang="ru-RU" b="1" dirty="0">
                <a:ln/>
                <a:solidFill>
                  <a:schemeClr val="accent3"/>
                </a:solidFill>
              </a:rPr>
              <a:t>На данной форме пользователь может сформировать разнообразные отчёты.</a:t>
            </a:r>
            <a:endParaRPr lang="en-US" b="1" dirty="0">
              <a:ln/>
              <a:solidFill>
                <a:schemeClr val="accent3"/>
              </a:solidFill>
            </a:endParaRPr>
          </a:p>
        </p:txBody>
      </p:sp>
      <p:sp>
        <p:nvSpPr>
          <p:cNvPr id="7" name="Управляющая кнопка: назад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3ECDA4F-DB45-4A11-9E58-29B14B70D002}"/>
              </a:ext>
            </a:extLst>
          </p:cNvPr>
          <p:cNvSpPr/>
          <p:nvPr/>
        </p:nvSpPr>
        <p:spPr>
          <a:xfrm>
            <a:off x="7828210" y="4659982"/>
            <a:ext cx="393042" cy="39304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домой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F3C852E-8D6C-487E-8C89-74C0C2AEB167}"/>
              </a:ext>
            </a:extLst>
          </p:cNvPr>
          <p:cNvSpPr/>
          <p:nvPr/>
        </p:nvSpPr>
        <p:spPr>
          <a:xfrm>
            <a:off x="8224934" y="4659982"/>
            <a:ext cx="393042" cy="39304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далее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498ACDD-1749-4B34-B159-4FF1ED949131}"/>
              </a:ext>
            </a:extLst>
          </p:cNvPr>
          <p:cNvSpPr/>
          <p:nvPr/>
        </p:nvSpPr>
        <p:spPr>
          <a:xfrm>
            <a:off x="8617976" y="4659982"/>
            <a:ext cx="393042" cy="39304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42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5148" y="0"/>
            <a:ext cx="7020272" cy="1400014"/>
          </a:xfrm>
        </p:spPr>
        <p:txBody>
          <a:bodyPr>
            <a:noAutofit/>
          </a:bodyPr>
          <a:lstStyle/>
          <a:p>
            <a:pPr marL="0" indent="450000" algn="just">
              <a:buNone/>
            </a:pPr>
            <a:r>
              <a:rPr lang="ru-RU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Лучшая практика.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0F7A90-FE3C-46E8-8418-6BA134DC5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275606"/>
            <a:ext cx="8964488" cy="386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3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179</TotalTime>
  <Words>363</Words>
  <Application>Microsoft Office PowerPoint</Application>
  <PresentationFormat>Экран (16:9)</PresentationFormat>
  <Paragraphs>54</Paragraphs>
  <Slides>21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Trebuchet MS</vt:lpstr>
      <vt:lpstr>Wingdings 3</vt:lpstr>
      <vt:lpstr>Аспект</vt:lpstr>
      <vt:lpstr>Документ Microsoft Visio</vt:lpstr>
      <vt:lpstr>Учёт нарушений правил дорожного движения</vt:lpstr>
      <vt:lpstr>Меню: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работы библиотеки</dc:title>
  <dc:creator>user</dc:creator>
  <cp:lastModifiedBy>popelizaxar@mail.ru</cp:lastModifiedBy>
  <cp:revision>18</cp:revision>
  <dcterms:created xsi:type="dcterms:W3CDTF">2019-05-31T04:44:55Z</dcterms:created>
  <dcterms:modified xsi:type="dcterms:W3CDTF">2019-06-12T06:18:11Z</dcterms:modified>
</cp:coreProperties>
</file>