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16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73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229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0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99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815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085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198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81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00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8377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95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555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613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7043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429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CE995-EADC-4C9D-9FE1-284D42A13C1C}" type="datetimeFigureOut">
              <a:rPr lang="ru-RU" smtClean="0"/>
              <a:t>25.02.2019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A701E4B-8007-4815-8276-B4278B6D12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111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47563" y="0"/>
            <a:ext cx="9421566" cy="1712686"/>
          </a:xfrm>
        </p:spPr>
        <p:txBody>
          <a:bodyPr/>
          <a:lstStyle/>
          <a:p>
            <a:r>
              <a:rPr lang="ru-RU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Общая характеристика языка </a:t>
            </a:r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UML</a:t>
            </a:r>
            <a:endParaRPr lang="ru-RU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425064" y="6517536"/>
            <a:ext cx="7766936" cy="1096899"/>
          </a:xfrm>
        </p:spPr>
        <p:txBody>
          <a:bodyPr/>
          <a:lstStyle/>
          <a:p>
            <a:r>
              <a:rPr lang="ru-RU" dirty="0" smtClean="0">
                <a:ln w="0"/>
                <a:solidFill>
                  <a:schemeClr val="bg2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Разработал </a:t>
            </a:r>
            <a:r>
              <a:rPr lang="ru-RU" dirty="0" err="1" smtClean="0">
                <a:ln w="0"/>
                <a:solidFill>
                  <a:schemeClr val="bg2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Буцаев</a:t>
            </a:r>
            <a:r>
              <a:rPr lang="ru-RU" dirty="0" smtClean="0">
                <a:ln w="0"/>
                <a:solidFill>
                  <a:schemeClr val="bg2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 Владислав</a:t>
            </a:r>
            <a:endParaRPr lang="ru-RU" dirty="0">
              <a:ln w="0"/>
              <a:solidFill>
                <a:schemeClr val="bg2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026" name="Picture 2" descr="https://static-2.gumroad.com/res/gumroad/2982601783606/asset_previews/dd3033aff8ed4fcb8c53359692f14cb9/retina/UM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95" y="4260619"/>
            <a:ext cx="4340225" cy="225691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hartmannsoftware.com/images/UML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76780" y="3327787"/>
            <a:ext cx="2517775" cy="27003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9552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0800"/>
          </a:xfrm>
        </p:spPr>
        <p:txBody>
          <a:bodyPr>
            <a:normAutofit/>
          </a:bodyPr>
          <a:lstStyle/>
          <a:p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Краткая характеристика</a:t>
            </a:r>
            <a:endParaRPr lang="ru-RU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3880" y="1320800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Унифицированный язык моделирования UML (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Unified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Modeling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Language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 представляет собой язык для определения, представления, проектирования и документирования программных систем, организационно-экономических систем, технических систем и других систем различной природы. UML содержит стандартный набор диаграмм и нотаций самых разнообразных видов.</a:t>
            </a:r>
          </a:p>
          <a:p>
            <a:pPr marL="0" indent="0">
              <a:buNone/>
            </a:pP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При объектном подходе к программированию модели разрабатываемой системы основываются на предметах и явлениях окружающего мира.</a:t>
            </a:r>
          </a:p>
          <a:p>
            <a:pPr marL="0" indent="0">
              <a:buNone/>
            </a:pP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Модель — упрощенное представление реальности. С точки зрения программирования модель — это чертеж системы. Моделирование необходимо для решения следующих задач:</a:t>
            </a:r>
          </a:p>
          <a:p>
            <a:pPr lvl="0"/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визуализации системы;</a:t>
            </a:r>
          </a:p>
          <a:p>
            <a:pPr lvl="0"/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определения ее структуры и поведения;</a:t>
            </a:r>
          </a:p>
          <a:p>
            <a:pPr lvl="0"/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получения шаблона, позволяющего затем сконструировать систему;</a:t>
            </a:r>
          </a:p>
          <a:p>
            <a:pPr lvl="0"/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документирования принимаемых решений, используя полученные модели.</a:t>
            </a:r>
          </a:p>
        </p:txBody>
      </p:sp>
      <p:sp>
        <p:nvSpPr>
          <p:cNvPr id="5" name="AutoShape 4" descr="ÐÐ°ÑÑÐ¸Ð½ÐºÐ¸ Ð¿Ð¾ Ð·Ð°Ð¿ÑÐ¾ÑÑ ÑÐ·ÑÐº UML"/>
          <p:cNvSpPr>
            <a:spLocks noChangeAspect="1" noChangeArrowheads="1"/>
          </p:cNvSpPr>
          <p:nvPr/>
        </p:nvSpPr>
        <p:spPr bwMode="auto">
          <a:xfrm>
            <a:off x="-2301240" y="-2601285"/>
            <a:ext cx="2761615" cy="276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6" descr="ÐÐ°ÑÑÐ¸Ð½ÐºÐ¸ Ð¿Ð¾ Ð·Ð°Ð¿ÑÐ¾ÑÑ ÑÐ·ÑÐº UML"/>
          <p:cNvSpPr>
            <a:spLocks noChangeAspect="1" noChangeArrowheads="1"/>
          </p:cNvSpPr>
          <p:nvPr/>
        </p:nvSpPr>
        <p:spPr bwMode="auto">
          <a:xfrm>
            <a:off x="155574" y="-2625415"/>
            <a:ext cx="2785745" cy="278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323" y="4609609"/>
            <a:ext cx="3324225" cy="118392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99574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>
            <a:normAutofit/>
          </a:bodyPr>
          <a:lstStyle/>
          <a:p>
            <a:r>
              <a:rPr lang="ru-RU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Краткая история </a:t>
            </a:r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UML</a:t>
            </a:r>
            <a:endParaRPr lang="ru-RU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60400"/>
            <a:ext cx="8596668" cy="5962331"/>
          </a:xfrm>
        </p:spPr>
        <p:txBody>
          <a:bodyPr>
            <a:normAutofit/>
          </a:bodyPr>
          <a:lstStyle/>
          <a:p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К середине 90-х годов различными авторами было предложено несколько десятков методов </a:t>
            </a:r>
            <a:r>
              <a:rPr lang="ru-RU" sz="19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объектно-ориентированного 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моделирования, каждый из которых использовал свою графическую нотацию. При этом любой их этих методов имел свои сильные стороны, но не позволял построить достаточно полную модель </a:t>
            </a:r>
            <a:r>
              <a:rPr lang="ru-RU" sz="19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программного средства, 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показать ее «со всех сторон», то есть, все необходимые </a:t>
            </a:r>
            <a:r>
              <a:rPr lang="ru-RU" sz="19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проекции. К 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тому же отсутствие стандарта 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объектно-ориентированного</a:t>
            </a:r>
            <a:r>
              <a:rPr lang="ru-RU" sz="19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моделирования затрудняло для разработчиков выбор наиболее подходящего метода, что препятствовало широкому распространению ОО подхода к разработке ПС.</a:t>
            </a:r>
          </a:p>
          <a:p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По запросу 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Object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Management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Group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(OMG) – организации, ответственной за принятие стандартов в области объектных технологий и баз данных назревшая проблема унификации и стандартизации была решена авторами трех наиболее популярных 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объектно-ориентированного</a:t>
            </a:r>
            <a:r>
              <a:rPr lang="ru-RU" sz="19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методов – 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Г.Бучем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, 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Д.Рамбо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и </a:t>
            </a:r>
            <a:r>
              <a:rPr lang="ru-RU" sz="19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А.Джекобсоном</a:t>
            </a:r>
            <a:r>
              <a:rPr lang="ru-RU" sz="19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, которые объединенными усилиями создали версию UML 1.1, утвержденную OMG в 1997 году в качестве стандарта.</a:t>
            </a:r>
          </a:p>
          <a:p>
            <a:endParaRPr lang="ru-RU" sz="1900" dirty="0"/>
          </a:p>
        </p:txBody>
      </p:sp>
      <p:pic>
        <p:nvPicPr>
          <p:cNvPr id="3074" name="Picture 2" descr="https://community.biz-architect.com/wp-content/uploads/sites/2/2014/04/OMG-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8655" y="687863"/>
            <a:ext cx="1687830" cy="12658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3">
            <a:lum contras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82"/>
          <a:stretch>
            <a:fillRect/>
          </a:stretch>
        </p:blipFill>
        <p:spPr bwMode="auto">
          <a:xfrm>
            <a:off x="8370570" y="3773714"/>
            <a:ext cx="3821430" cy="30842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68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929640"/>
          </a:xfrm>
        </p:spPr>
        <p:txBody>
          <a:bodyPr>
            <a:normAutofit/>
          </a:bodyPr>
          <a:lstStyle/>
          <a:p>
            <a:r>
              <a:rPr 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UML – </a:t>
            </a:r>
            <a:r>
              <a:rPr lang="ru-RU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это язык</a:t>
            </a:r>
            <a:endParaRPr lang="ru-RU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7180" y="929640"/>
            <a:ext cx="7162800" cy="5928359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Любой язык состоит из словаря и правил комбинирования слов для получения осмысленных конструкций. Так, в частности, устроены языки программирования, таковым является и UML. Отличительной его особенностью является то, что словарь языка образуют графические элементы. Каждому графическому символу соответствует конкретная семантика, поэтому модель, созданная одним разработчиком, может однозначно быть понята другим, а также программным средством, интерпретирующим UML. Отсюда, в частности, следует, что модель 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программного средства, 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представленная на UML, может автоматически быть переведена на 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объектно-ориентированный 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язык программирования (такой, как </a:t>
            </a:r>
            <a:r>
              <a:rPr lang="ru-RU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Java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, C++, </a:t>
            </a:r>
            <a:r>
              <a:rPr lang="ru-RU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VisualBasic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), то есть, при наличии хорошего инструментального средства визуального моделирования, поддерживающего UML, построив модель, мы получим и заготовку программного кода, соответствующего этой модели.</a:t>
            </a:r>
          </a:p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Следует подчеркнуть, что UML – это именно язык, а не метод. Он объясняет, из каких элементов создавать модели и как их читать, но ничего не говорит о том, какие модели и в каких случаях следует разрабатывать. Чтобы создать метод на базе UML, надо дополнить его описанием процесса разработки 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программного средства. 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Примером такого процесса является </a:t>
            </a:r>
            <a:r>
              <a:rPr lang="ru-RU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Rational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Unified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dirty="0" err="1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Process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  <a:endParaRPr lang="ru-RU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4102" name="Picture 6" descr="https://cf.ppt-online.org/files/slide/e/ElFM2VpZyYOKzLk6W78sHQgj4t9RqX5mhJcN03/slide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980" y="1859280"/>
            <a:ext cx="4434840" cy="336804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857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ru-RU" sz="53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Концептуальная модель UML</a:t>
            </a:r>
            <a:r>
              <a:rPr lang="ru-RU" sz="4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/>
            </a:r>
            <a:br>
              <a:rPr lang="ru-RU" sz="40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lang="ru-RU" sz="4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85448" y="1507446"/>
            <a:ext cx="8596668" cy="3880773"/>
          </a:xfrm>
        </p:spPr>
        <p:txBody>
          <a:bodyPr/>
          <a:lstStyle/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Словарь языка UML включает три вида строительных блоков:</a:t>
            </a:r>
          </a:p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сущности;</a:t>
            </a:r>
          </a:p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отношения;</a:t>
            </a:r>
          </a:p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диаграммы.</a:t>
            </a:r>
          </a:p>
          <a:p>
            <a:endParaRPr lang="ru-RU" dirty="0"/>
          </a:p>
        </p:txBody>
      </p:sp>
      <p:pic>
        <p:nvPicPr>
          <p:cNvPr id="5127" name="Picture 7" descr="ÐÐ°ÑÑÐ¸Ð½ÐºÐ¸ Ð¿Ð¾ Ð·Ð°Ð¿ÑÐ¾ÑÑ ÑÑÑÑÐºÑÑÑÐ° ÑÐ·ÑÐºÐ° um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416" y="1917700"/>
            <a:ext cx="6743700" cy="469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206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>
            <a:normAutofit/>
          </a:bodyPr>
          <a:lstStyle/>
          <a:p>
            <a:r>
              <a:rPr lang="ru-RU" sz="48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Рассмотрим подробнее</a:t>
            </a:r>
            <a:endParaRPr lang="ru-RU" sz="4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8971" y="897847"/>
            <a:ext cx="9608458" cy="596015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Сущности</a:t>
            </a:r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 – это абстракции, являющиеся основными элементами модели. </a:t>
            </a:r>
            <a:r>
              <a:rPr lang="ru-RU" sz="24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Отношения</a:t>
            </a:r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 связывают различные сущности; </a:t>
            </a:r>
            <a:r>
              <a:rPr lang="ru-RU" sz="24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диаграммы</a:t>
            </a:r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 группируют представляющие интерес совокупности сущностей.</a:t>
            </a:r>
          </a:p>
          <a:p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В UML имеется четыре типа сущностей:</a:t>
            </a:r>
          </a:p>
          <a:p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структурные;</a:t>
            </a:r>
          </a:p>
          <a:p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поведенческие;</a:t>
            </a:r>
          </a:p>
          <a:p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группирующие;</a:t>
            </a:r>
          </a:p>
          <a:p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аннотационные.</a:t>
            </a:r>
          </a:p>
          <a:p>
            <a:pPr marL="0" indent="0">
              <a:buNone/>
            </a:pPr>
            <a:r>
              <a:rPr lang="ru-RU" sz="2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Структурные сущности – это имена существительные в моделях на языке UML. Как правило, они представляют собой статические части модели, соответствующие концептуальным или физическим элементам системы. Существует несколько разновидностей структурных сущностей:</a:t>
            </a:r>
          </a:p>
          <a:p>
            <a:endParaRPr lang="ru-RU" dirty="0"/>
          </a:p>
        </p:txBody>
      </p:sp>
      <p:pic>
        <p:nvPicPr>
          <p:cNvPr id="6146" name="Picture 2" descr="http://2.bp.blogspot.com/-Np0G2iq3VxQ/VU2kYd-fYuI/AAAAAAAAAdg/9XemuBXnJCc/s640/usecas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4" y="1973943"/>
            <a:ext cx="3976914" cy="2641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143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Существует несколько разновидностей структурных сущностей:</a:t>
            </a:r>
            <a:br>
              <a:rPr lang="ru-RU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lang="ru-RU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1886" y="1320800"/>
            <a:ext cx="8882116" cy="5537199"/>
          </a:xfrm>
        </p:spPr>
        <p:txBody>
          <a:bodyPr>
            <a:normAutofit/>
          </a:bodyPr>
          <a:lstStyle/>
          <a:p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Класс (</a:t>
            </a:r>
            <a:r>
              <a:rPr lang="ru-RU" u="sng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Class</a:t>
            </a:r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– это описание совокупности объектов с общими атрибутами, операциями, отношениями и 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семантикой</a:t>
            </a:r>
          </a:p>
          <a:p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Интерфейс (</a:t>
            </a:r>
            <a:r>
              <a:rPr lang="ru-RU" u="sng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Interface</a:t>
            </a:r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– это совокупность операций, которые определяют сервис (набор услуг), предоставляемый классом или компонентом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</a:p>
          <a:p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Кооперация (</a:t>
            </a:r>
            <a:r>
              <a:rPr lang="ru-RU" u="sng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Collaboration</a:t>
            </a:r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определяет взаимодействие; она представляет собой совокупность ролей и других элементов, которые, работая совместно, производят некоторый кооперативный эффект, не сводящийся к простой сумме 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слагаемых.</a:t>
            </a:r>
          </a:p>
          <a:p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Прецедент (</a:t>
            </a:r>
            <a:r>
              <a:rPr lang="ru-RU" u="sng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Use</a:t>
            </a:r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  <a:r>
              <a:rPr lang="ru-RU" u="sng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case</a:t>
            </a:r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– это описание последовательности выполняемых системой действий, которая производит наблюдаемый результат, значимый для какого-то определенного актера (</a:t>
            </a:r>
            <a:r>
              <a:rPr lang="ru-RU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Actor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).</a:t>
            </a:r>
          </a:p>
          <a:p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Компонент (</a:t>
            </a:r>
            <a:r>
              <a:rPr lang="ru-RU" u="sng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Component</a:t>
            </a:r>
            <a:r>
              <a:rPr lang="ru-RU" u="sng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</a:t>
            </a:r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 – это физическая заменяемая часть системы, которая соответствует некоторому набору интерфейсов и обеспечивает его реализацию</a:t>
            </a:r>
            <a:r>
              <a:rPr lang="ru-RU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7848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В языке UML определены четыре типа отношений: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7391" y="1320800"/>
            <a:ext cx="8596668" cy="1654629"/>
          </a:xfrm>
        </p:spPr>
        <p:txBody>
          <a:bodyPr/>
          <a:lstStyle/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зависимость;</a:t>
            </a:r>
          </a:p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ассоциация;</a:t>
            </a:r>
          </a:p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обобщение;</a:t>
            </a:r>
          </a:p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– реализация.</a:t>
            </a:r>
          </a:p>
          <a:p>
            <a:endParaRPr lang="ru-RU" dirty="0"/>
          </a:p>
        </p:txBody>
      </p:sp>
      <p:pic>
        <p:nvPicPr>
          <p:cNvPr id="8194" name="Picture 2" descr="https://studfiles.net/html/2706/276/html_f5YROMfSbl.gHLL/img-aIVWoz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6" y="1320800"/>
            <a:ext cx="7224048" cy="4397829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01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Рассмотрим подробнее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2857" y="660400"/>
            <a:ext cx="8447314" cy="5348514"/>
          </a:xfrm>
        </p:spPr>
        <p:txBody>
          <a:bodyPr>
            <a:noAutofit/>
          </a:bodyPr>
          <a:lstStyle/>
          <a:p>
            <a:r>
              <a:rPr lang="ru-RU" sz="24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З</a:t>
            </a:r>
            <a:r>
              <a:rPr lang="ru-RU" sz="23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ависимость</a:t>
            </a:r>
            <a:r>
              <a:rPr lang="ru-RU" sz="23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 (</a:t>
            </a:r>
            <a:r>
              <a:rPr lang="ru-RU" sz="23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Dependency</a:t>
            </a:r>
            <a:r>
              <a:rPr lang="ru-RU" sz="23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 – это семантическое отношение между двумя сущностями, при котором изменение одной из них, независимой, может повлиять на семантику другой, зависимой</a:t>
            </a:r>
            <a:r>
              <a:rPr lang="ru-RU" sz="23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</a:p>
          <a:p>
            <a:r>
              <a:rPr lang="ru-RU" sz="23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Ассоциация</a:t>
            </a:r>
            <a:r>
              <a:rPr lang="ru-RU" sz="23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 (</a:t>
            </a:r>
            <a:r>
              <a:rPr lang="ru-RU" sz="23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Association</a:t>
            </a:r>
            <a:r>
              <a:rPr lang="ru-RU" sz="23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 – структурное отношение, описывающее совокупность связей; связь – это соединение между объектами. </a:t>
            </a:r>
            <a:endParaRPr lang="ru-RU" sz="2300" dirty="0" smtClean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ru-RU" sz="23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Обобщение</a:t>
            </a:r>
            <a:r>
              <a:rPr lang="ru-RU" sz="23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 (</a:t>
            </a:r>
            <a:r>
              <a:rPr lang="ru-RU" sz="23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Generalization</a:t>
            </a:r>
            <a:r>
              <a:rPr lang="ru-RU" sz="23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 – это отношение «специализация/обобщение», при котором объект специализированного элемента (потомок) может быть подставлен вместо объекта обобщенного элемента (родителя или предка). </a:t>
            </a:r>
            <a:endParaRPr lang="ru-RU" sz="2300" dirty="0" smtClean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r>
              <a:rPr lang="ru-RU" sz="2300" i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Реализация</a:t>
            </a:r>
            <a:r>
              <a:rPr lang="ru-RU" sz="23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 (</a:t>
            </a:r>
            <a:r>
              <a:rPr lang="ru-RU" sz="230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Realization</a:t>
            </a:r>
            <a:r>
              <a:rPr lang="ru-RU" sz="23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) – это семантическое отношение между классификаторами, при котором один классификатор определяет «контракт», а другой гарантирует его </a:t>
            </a:r>
            <a:r>
              <a:rPr lang="ru-RU" sz="23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выполнение.</a:t>
            </a:r>
            <a:endParaRPr lang="ru-RU" sz="23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9220" name="Picture 4" descr="https://upload.wikimedia.org/wikipedia/commons/thumb/7/77/Uml_classes_ru.svg/600px-Uml_classes_ru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2945" y="1759857"/>
            <a:ext cx="3603626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772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Представление управления моделью. Пакеты.</a:t>
            </a:r>
            <a:endParaRPr lang="ru-RU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448" y="1320800"/>
            <a:ext cx="8596668" cy="3880773"/>
          </a:xfrm>
        </p:spPr>
        <p:txBody>
          <a:bodyPr/>
          <a:lstStyle/>
          <a:p>
            <a:r>
              <a:rPr lang="ru-RU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Мы уже говорили о том, что для того чтобы модель была хорошо понимаемой человеком необходимо организовать ее иерархически, оставляя на каждом уровне иерархии небольшое число сущностей. UML включает средство организации иерархического представления модели – пакеты. Любая модель состоит из набора пакетов, которые могут содержать классы, варианты использования и прочие сущности и диаграммы. Пакет может включать другие пакеты, что позволяет создавать иерархии. В UML не предусмотрено отдельных диаграмм пакетов, но они могут присутствовать на других диаграммах. Пакет изображается в виде прямоугольника с закладкой.</a:t>
            </a:r>
            <a:endParaRPr lang="ru-RU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0242" name="Picture 2" descr="https://masterskaya-svetovit.ru/image/cache/catalog/gifts1/8/ffer-ru-reviewer-tb-10-7311-30_1-1200x8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090" y="4136269"/>
            <a:ext cx="4082596" cy="2721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018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Что обеспечивает </a:t>
            </a:r>
            <a:r>
              <a:rPr 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UML.</a:t>
            </a:r>
            <a:endParaRPr lang="ru-RU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7392" y="1320800"/>
            <a:ext cx="8596668" cy="5537200"/>
          </a:xfrm>
        </p:spPr>
        <p:txBody>
          <a:bodyPr>
            <a:normAutofit fontScale="92500" lnSpcReduction="10000"/>
          </a:bodyPr>
          <a:lstStyle/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иерархическое описание сложной системы путем выделения пакетов;</a:t>
            </a:r>
          </a:p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формализацию функциональных требований к системе с помощью аппарата вариантов использования;</a:t>
            </a:r>
          </a:p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детализацию требований к системе путем построения диаграмм деятельностей и сценариев;</a:t>
            </a:r>
          </a:p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выделение классов данных и построение концептуальной модели данных в виде диаграмм классов;</a:t>
            </a:r>
          </a:p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выделение классов, описывающих пользовательский интерфейс, и создание схемы навигации экранов;</a:t>
            </a:r>
          </a:p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описание процессов взаимодействия объектов при выполнении системных функций;</a:t>
            </a:r>
          </a:p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описание поведения объектов в виде диаграмм деятельностей и состояний;</a:t>
            </a:r>
          </a:p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описание программных компонент и их взаимодействия через интерфейсы;</a:t>
            </a:r>
          </a:p>
          <a:p>
            <a:r>
              <a:rPr lang="ru-RU" sz="21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описание физической архитектуры системы.</a:t>
            </a:r>
          </a:p>
          <a:p>
            <a:endParaRPr lang="ru-RU" dirty="0"/>
          </a:p>
        </p:txBody>
      </p:sp>
      <p:pic>
        <p:nvPicPr>
          <p:cNvPr id="11266" name="Picture 2" descr="https://www.my-mooc.com/uploads/mooc/logo/afbc12a0bf2878cc6c5fbd09e9526d7d1b6bb34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9926" y="3272971"/>
            <a:ext cx="3464703" cy="33528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039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И последнее…</a:t>
            </a:r>
            <a:endParaRPr lang="ru-RU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2877" y="810760"/>
            <a:ext cx="8596668" cy="5894840"/>
          </a:xfrm>
        </p:spPr>
        <p:txBody>
          <a:bodyPr>
            <a:noAutofit/>
          </a:bodyPr>
          <a:lstStyle/>
          <a:p>
            <a:r>
              <a:rPr lang="ru-RU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Несмотря на всю привлекательность UML, его было бы затруднительно использовать при реальном моделировании </a:t>
            </a:r>
            <a:r>
              <a:rPr lang="ru-RU" sz="22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программного средства </a:t>
            </a:r>
            <a:r>
              <a:rPr lang="ru-RU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без инструментальных средств визуального моделирования. Такие средства позволяют оперативно представлять диаграммы на экране дисплея, документировать их, генерировать заготовки программных кодов на различных </a:t>
            </a:r>
            <a:r>
              <a:rPr lang="ru-RU" sz="22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объектно-ориентированных </a:t>
            </a:r>
            <a:r>
              <a:rPr lang="ru-RU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языках программирования, создавать схемы баз данных. Большинство из них включают возможности реинжиниринга программных кодов – восстановления определенных проекций модели </a:t>
            </a:r>
            <a:r>
              <a:rPr lang="ru-RU" sz="22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программное средство </a:t>
            </a:r>
            <a:r>
              <a:rPr lang="ru-RU" sz="22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путем автоматического анализа исходных кодов программ, что очень важно для обеспечения соответствия модели и кодов и при проектировании систем, наследующих функциональность систем-предшественников.</a:t>
            </a:r>
            <a:endParaRPr lang="ru-RU" sz="22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48284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avatars.mds.yandex.net/get-pdb/877347/28882748-c960-4d0e-89de-34468421646c/orig"/>
          <p:cNvPicPr>
            <a:picLocks noGrp="1" noChangeAspect="1" noChangeArrowheads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06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090400" cy="1930400"/>
          </a:xfrm>
        </p:spPr>
        <p:txBody>
          <a:bodyPr>
            <a:normAutofit/>
          </a:bodyPr>
          <a:lstStyle/>
          <a:p>
            <a:pPr algn="ctr"/>
            <a:r>
              <a:rPr lang="ru-RU" sz="6000" dirty="0" smtClean="0"/>
              <a:t>СПАСИБО ЗА ВНИМАНИЕ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434307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</TotalTime>
  <Words>807</Words>
  <Application>Microsoft Office PowerPoint</Application>
  <PresentationFormat>Широкоэкранный</PresentationFormat>
  <Paragraphs>60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Аспект</vt:lpstr>
      <vt:lpstr>Общая характеристика языка UML</vt:lpstr>
      <vt:lpstr>Краткая характеристика</vt:lpstr>
      <vt:lpstr>Краткая история UML</vt:lpstr>
      <vt:lpstr>UML – это язык</vt:lpstr>
      <vt:lpstr>Концептуальная модель UML </vt:lpstr>
      <vt:lpstr>Рассмотрим подробнее</vt:lpstr>
      <vt:lpstr>Существует несколько разновидностей структурных сущностей: </vt:lpstr>
      <vt:lpstr>В языке UML определены четыре типа отношений: </vt:lpstr>
      <vt:lpstr>Рассмотрим подробнее</vt:lpstr>
      <vt:lpstr>Представление управления моделью. Пакеты.</vt:lpstr>
      <vt:lpstr>Что обеспечивает UML.</vt:lpstr>
      <vt:lpstr>И последнее…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Общая характеристика языка UML</dc:title>
  <dc:creator>SadВладислав</dc:creator>
  <cp:lastModifiedBy>SadВладислав</cp:lastModifiedBy>
  <cp:revision>10</cp:revision>
  <dcterms:created xsi:type="dcterms:W3CDTF">2019-02-18T08:20:51Z</dcterms:created>
  <dcterms:modified xsi:type="dcterms:W3CDTF">2019-02-25T06:53:23Z</dcterms:modified>
</cp:coreProperties>
</file>